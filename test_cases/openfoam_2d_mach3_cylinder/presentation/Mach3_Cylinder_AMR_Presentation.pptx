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Adaptive Mesh Refinement for Supersonic Flow</a:t>
            </a:r>
          </a:p>
          <a:p>
            <a:pPr algn="ctr">
              <a:spcBef>
                <a:spcPts val="1200"/>
              </a:spcBef>
              <a:defRPr sz="2800">
                <a:solidFill>
                  <a:srgbClr val="88BBEE"/>
                </a:solidFill>
              </a:defRPr>
            </a:pPr>
            <a:r>
              <a:t>Mach 3 Cylinder at 50 km Altitude</a:t>
            </a:r>
          </a:p>
          <a:p>
            <a:pPr algn="ctr">
              <a:spcBef>
                <a:spcPts val="2000"/>
              </a:spcBef>
              <a:defRPr sz="1600">
                <a:solidFill>
                  <a:srgbClr val="AACCDD"/>
                </a:solidFill>
              </a:defRPr>
            </a:pPr>
            <a:r>
              <a:t>OpenFOAM v2406 | Gradient-Based Adaptation | Unstructured Gmsh Mesh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2B5C"/>
                </a:solidFill>
              </a:defRPr>
            </a:pPr>
            <a:r>
              <a:t>Fahim Shahriyar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M.S. Mechanical Engineering</a:t>
            </a:r>
          </a:p>
          <a:p>
            <a:pPr algn="ctr">
              <a:defRPr sz="1800">
                <a:solidFill>
                  <a:srgbClr val="666666"/>
                </a:solidFill>
              </a:defRPr>
            </a:pPr>
            <a:r>
              <a:t>Advisor: Dr. Chonglin Zhang</a:t>
            </a:r>
          </a:p>
          <a:p>
            <a:pPr algn="ctr">
              <a:spcBef>
                <a:spcPts val="800"/>
              </a:spcBef>
              <a:defRPr sz="1600">
                <a:solidFill>
                  <a:srgbClr val="666666"/>
                </a:solidFill>
              </a:defRPr>
            </a:pPr>
            <a:r>
              <a:t>Department of Mechanical Engineering, University of North Dakota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63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630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4708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4708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Flow Conditions (50 km Altitude)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23113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31136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Computational Setup &amp; Boundary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61518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61518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Solver &amp; Numerical Schemes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9923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99923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AMR Pipeline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83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3832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Gradient-Based Sizing Formula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76732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6732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Mesh Progression (Uniform through AMR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151376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8.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151376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Pressure Contours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53542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9.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3542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Temperature Contours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91947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10.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1947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Velocity Contours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30352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11.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035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Mesh &amp; Results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687568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007BBB"/>
                </a:solidFill>
              </a:defRPr>
            </a:pPr>
            <a:r>
              <a:t>12.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68756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Key Findings &amp; 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Supersonic flows produce strong shock waves with steep gradients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Uniform meshes waste cells in smooth regions far from shocks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Fine uniform meshes are computationally expensive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Need automated refinement that focuses cells where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Develop automated AMR pipeline for unstructured meshes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Use pressure gradient as adaptation criterion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Demonstrate on Mach 3 cylinder at 50 km altitude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Pipeline: Gmsh + OpenFOAM + ParaView (fully automated)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Why This Matters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Supersonic/hypersonic vehicle design requires accurate shock resolution without excessive computational cost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Gradient-based adaptation automatically concentrates cells at bow shocks, wake regions, and stagnation points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The pipeline is solver-agnostic: works with OpenFOAM (CFD) and COMET (DSMC) through a unified input file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Single configuration file (amr_pipeline.input) controls the entire process; no script editing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Flow Conditions</a:t>
            </a:r>
          </a:p>
          <a:p>
            <a:pPr algn="l">
              <a:defRPr sz="1600">
                <a:solidFill>
                  <a:srgbClr val="BBCCDD"/>
                </a:solidFill>
              </a:defRPr>
            </a:pPr>
            <a:r>
              <a:t>1976 US Standard Atmosphere at 50 km Altitude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4 / 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5943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Altitude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Mach Number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Freestream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Freestream Pressure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79.78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Freestream 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270.65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Freestream Density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1.027 x 10^-3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kg/m^3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Speed of Sound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Wall Temperature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800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Turbulence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Laminar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1463040"/>
            <a:ext cx="50292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5448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920240"/>
            <a:ext cx="4572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Density computed: rho = p / (R * T) = 79.78 / (287.05 * 270.65)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Speed of sound: a = sqrt(gamma * R * T) = sqrt(1.4 * 287.05 * 270.65) = 330 m/s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Mach number: M = V/a = 990/330 = 3.0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Reference: NASA-TM-X-74335 (1976 US Standard Atmosphere)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4480560"/>
            <a:ext cx="5029200" cy="16459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45720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Domain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Rectangular domain: 1.0 m x 0.8 m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Cylinder diameter: 0.2 m, centered at (0.5, 0.4)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Quasi-2D: single cell in z-direction (0.01 m extrude)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Unstructured triangular mesh generated by Gmsh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Computational Setup &amp; Boundary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5 / 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08960"/>
                <a:gridCol w="31089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Boundary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Velocity (U)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Pressure (p)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Temperature (T)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Inlet (left)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fixedValue: (990, 0, 0)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fixedValue: 79.78 Pa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fixedValue: 270.65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Outlet (bottom,</a:t>
                      </a:r>
                    </a:p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right, top)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zeroGradient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zeroGradient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zeroGradient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Wall (cylinder)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noSlip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zeroGradient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fixedValue: 800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Front &amp; Back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empty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empty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empty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657600"/>
            <a:ext cx="54864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49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Initial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Internal field initialized to freestream values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U = (990, 0, 0) m/s everywhere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 = 79.78 Pa everywhere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 = 270.65 K everywhere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Simulation starts from uniform initial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4864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Gas Properties (thermophysicalProperties)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1148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Equation of state: Perfect gas (hePsiThermo)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Molecular weight: 28.9 g/mol (air)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Specific heat: Cp = 1005 J/(kg K)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Transport: Sutherland law (As=1.458e-6, Ts=110.4 K)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gamma = 1.4 (ratio of specific heats)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Solver &amp; Numerical Schemes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30352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Solver: rhoCentralFoam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Density-based compressible solver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Kurganov-Tadmor central scheme for flux evaluation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Semi-discrete, non-staggered formulation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Suitable for high-speed flows with strong shocks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No Riemann solver needed (central differencing)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25603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Reconstruction &amp; Limiters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Density (rho): Minmod limiter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Velocity (U): MinmodV limiter (vector)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Temperature (T): Minmod limiter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Minmod is most diffusive but most stable for strong shocks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Prevents spurious oscillations near discontinuities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29768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Time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Euler (1st order)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Initial time step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1e-8 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Max Courant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Max time step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1e-5 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End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0.001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Write interval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0.0002 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Adaptive time stepping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Why These Choices?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548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rhoCentralFoam: Only OpenFOAM solver that handles Mach 3 on unstructured mesh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sonicFoam crashes at ANY supersonic speed on triangular mesh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Minmod: Most stable limiter; vanLeer/vanAlbada produce oscillations at Mach 3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maxCo = 0.3: Required for stability with strong bow shock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Euler time integration: Sufficient for steady-state convergence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AMR Pipeline Architecture</a:t>
            </a:r>
          </a:p>
          <a:p>
            <a:pPr algn="l">
              <a:defRPr sz="1600">
                <a:solidFill>
                  <a:srgbClr val="BBCCDD"/>
                </a:solidFill>
              </a:defRPr>
            </a:pPr>
            <a:r>
              <a:t>Automated Workflow: all_run.sh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1828800" cy="100584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Gmsh</a:t>
            </a:r>
          </a:p>
          <a:p>
            <a:pPr algn="ctr">
              <a:defRPr sz="1100">
                <a:solidFill>
                  <a:srgbClr val="DDDDDD"/>
                </a:solidFill>
              </a:defRPr>
            </a:pPr>
            <a:r>
              <a:t>Generate mesh</a:t>
            </a:r>
            <a:br/>
            <a:r>
              <a:t>(.geo -&gt; .msh)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40280" y="2057400"/>
            <a:ext cx="45720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645920"/>
            <a:ext cx="1828800" cy="100584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gmshToFoam</a:t>
            </a:r>
          </a:p>
          <a:p>
            <a:pPr algn="ctr">
              <a:defRPr sz="1100">
                <a:solidFill>
                  <a:srgbClr val="DDDDDD"/>
                </a:solidFill>
              </a:defRPr>
            </a:pPr>
            <a:r>
              <a:t>Convert mesh</a:t>
            </a:r>
            <a:br/>
            <a:r>
              <a:t>(.msh -&gt; polyMesh)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709160" y="2057400"/>
            <a:ext cx="45720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1645920"/>
            <a:ext cx="1828800" cy="100584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Boundary Fix</a:t>
            </a:r>
          </a:p>
          <a:p>
            <a:pPr algn="ctr">
              <a:defRPr sz="1100">
                <a:solidFill>
                  <a:srgbClr val="DDDDDD"/>
                </a:solidFill>
              </a:defRPr>
            </a:pPr>
            <a:r>
              <a:t>Set patch types</a:t>
            </a:r>
            <a:br/>
            <a:r>
              <a:t>(empty, wall)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78040" y="2057400"/>
            <a:ext cx="457200" cy="228600"/>
          </a:xfrm>
          <a:prstGeom prst="righ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1645920"/>
            <a:ext cx="1828800" cy="1005840"/>
          </a:xfrm>
          <a:prstGeom prst="roundRect">
            <a:avLst/>
          </a:prstGeom>
          <a:solidFill>
            <a:srgbClr val="B8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rhoCentralFoam</a:t>
            </a:r>
          </a:p>
          <a:p>
            <a:pPr algn="ctr">
              <a:defRPr sz="1100">
                <a:solidFill>
                  <a:srgbClr val="DDDDDD"/>
                </a:solidFill>
              </a:defRPr>
            </a:pPr>
            <a:r>
              <a:t>Run CFD solver</a:t>
            </a:r>
            <a:br/>
            <a:r>
              <a:t>(Kurganov scheme)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577072" y="2697480"/>
            <a:ext cx="228600" cy="457200"/>
          </a:xfrm>
          <a:prstGeom prst="down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0" y="3840480"/>
            <a:ext cx="1828800" cy="1005840"/>
          </a:xfrm>
          <a:prstGeom prst="roundRect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foamToVTK</a:t>
            </a:r>
          </a:p>
          <a:p>
            <a:pPr algn="ctr">
              <a:defRPr sz="1100">
                <a:solidFill>
                  <a:srgbClr val="DDDDDD"/>
                </a:solidFill>
              </a:defRPr>
            </a:pPr>
            <a:r>
              <a:t>Export results</a:t>
            </a:r>
            <a:br/>
            <a:r>
              <a:t>(-&gt; .vtu files)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840480"/>
            <a:ext cx="1828800" cy="1005840"/>
          </a:xfrm>
          <a:prstGeom prst="roundRect">
            <a:avLst/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pvpython</a:t>
            </a:r>
          </a:p>
          <a:p>
            <a:pPr algn="ctr">
              <a:defRPr sz="1100">
                <a:solidFill>
                  <a:srgbClr val="DDDDDD"/>
                </a:solidFill>
              </a:defRPr>
            </a:pPr>
            <a:r>
              <a:t>Compute grad(p)</a:t>
            </a:r>
            <a:br/>
            <a:r>
              <a:t>Sizing formula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7178040" y="4251960"/>
            <a:ext cx="457200" cy="228600"/>
          </a:xfrm>
          <a:prstGeom prst="lef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34640" y="3840480"/>
            <a:ext cx="1828800" cy="1005840"/>
          </a:xfrm>
          <a:prstGeom prst="roundRect">
            <a:avLst/>
          </a:prstGeom>
          <a:solidFill>
            <a:srgbClr val="00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Export .pos</a:t>
            </a:r>
          </a:p>
          <a:p>
            <a:pPr algn="ctr">
              <a:defRPr sz="1100">
                <a:solidFill>
                  <a:srgbClr val="DDDDDD"/>
                </a:solidFill>
              </a:defRPr>
            </a:pPr>
            <a:r>
              <a:t>Background sizing</a:t>
            </a:r>
            <a:br/>
            <a:r>
              <a:t>field for Gmsh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4709160" y="4251960"/>
            <a:ext cx="457200" cy="228600"/>
          </a:xfrm>
          <a:prstGeom prst="leftArrow">
            <a:avLst/>
          </a:prstGeom>
          <a:solidFill>
            <a:srgbClr val="004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63040" y="3931920"/>
            <a:ext cx="1188720" cy="82296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Loop Back</a:t>
            </a:r>
            <a:br/>
            <a:r>
              <a:t>to Step 1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2697480" y="4251960"/>
            <a:ext cx="365760" cy="228600"/>
          </a:xfrm>
          <a:prstGeom prst="leftArrow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65760" y="5303520"/>
            <a:ext cx="11247120" cy="9144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00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400" b="1">
                <a:solidFill>
                  <a:srgbClr val="008250"/>
                </a:solidFill>
              </a:rPr>
              <a:t>Configuration: </a:t>
            </a:r>
            <a:r>
              <a:rPr sz="1300">
                <a:solidFill>
                  <a:srgbClr val="333333"/>
                </a:solidFill>
              </a:rPr>
              <a:t>amr_pipeline.input controls everything: loops=3, extraction_mode=gradient, gradient_field=p, sizing_min=0.002, sizing_max=0.015, sizing_scale=100.0, solver=rhoCentralFoam. No script editing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Gradient-Based Mesh Sizing Formula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8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9144000" cy="164592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004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0"/>
              </a:spcBef>
              <a:defRPr sz="2400" b="1">
                <a:solidFill>
                  <a:srgbClr val="002B5C"/>
                </a:solidFill>
              </a:defRPr>
            </a:pPr>
            <a:r>
              <a:t>h(x) = h_min + (h_max - h_min) / (1 + alpha * |grad(p)| / |grad(p)|_max)</a:t>
            </a:r>
          </a:p>
          <a:p>
            <a:pPr algn="ctr">
              <a:defRPr sz="1400" i="1">
                <a:solidFill>
                  <a:srgbClr val="666666"/>
                </a:solidFill>
              </a:defRPr>
            </a:pPr>
            <a:r>
              <a:t>Frey &amp; Alauzet (2005), Loseille &amp; Alauzet (2011)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65760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1828800"/>
                <a:gridCol w="57607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h_min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Minimum cell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0.002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Smallest allowed element in refined regions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h_max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Maximum cell size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0.015 m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Largest allowed element in smooth regions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alpha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Scaling factor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Controls sensitivity to gradient magnitude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grad(p)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Gradient field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Pressure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Chosen adaptation criterion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303520"/>
            <a:ext cx="11247120" cy="10972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High pressure gradient (shock region): h approaches h_min = 0.002 m (fine cells concentrate at bow shock, wake, stagnation)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Low pressure gradient (smooth flow): h approaches h_max = 0.015 m (coarse cells save computation in freestream)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Mesh Progression</a:t>
            </a:r>
          </a:p>
          <a:p>
            <a:pPr algn="l">
              <a:defRPr sz="1600">
                <a:solidFill>
                  <a:srgbClr val="BBCCDD"/>
                </a:solidFill>
              </a:defRPr>
            </a:pPr>
            <a:r>
              <a:t>Uniform Mesh through 3 AMR Iterations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9 / 17</a:t>
            </a:r>
          </a:p>
        </p:txBody>
      </p:sp>
      <p:pic>
        <p:nvPicPr>
          <p:cNvPr id="6" name="Picture 5" descr="mesh_uni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30352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Uniform (4,804 nodes)</a:t>
            </a:r>
          </a:p>
        </p:txBody>
      </p:sp>
      <p:pic>
        <p:nvPicPr>
          <p:cNvPr id="8" name="Picture 7" descr="mesh_am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1 (71,904 nodes)</a:t>
            </a:r>
          </a:p>
        </p:txBody>
      </p:sp>
      <p:pic>
        <p:nvPicPr>
          <p:cNvPr id="10" name="Picture 9" descr="mesh_am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206240"/>
            <a:ext cx="530352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3931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2 (14,888 nodes)</a:t>
            </a:r>
          </a:p>
        </p:txBody>
      </p:sp>
      <p:pic>
        <p:nvPicPr>
          <p:cNvPr id="12" name="Picture 11" descr="mesh_am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06240"/>
            <a:ext cx="53035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3931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3 (17,500 nodes)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Pressure Field Comparison</a:t>
            </a:r>
          </a:p>
          <a:p>
            <a:pPr algn="l">
              <a:defRPr sz="1600">
                <a:solidFill>
                  <a:srgbClr val="BBCCDD"/>
                </a:solidFill>
              </a:defRPr>
            </a:pPr>
            <a:r>
              <a:t>Consistent scale: 0 - 960 Pa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10 / 17</a:t>
            </a:r>
          </a:p>
        </p:txBody>
      </p:sp>
      <p:pic>
        <p:nvPicPr>
          <p:cNvPr id="6" name="Picture 5" descr="p_uni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30352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Uniform Mesh</a:t>
            </a:r>
          </a:p>
        </p:txBody>
      </p:sp>
      <p:pic>
        <p:nvPicPr>
          <p:cNvPr id="8" name="Picture 7" descr="p_am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1</a:t>
            </a:r>
          </a:p>
        </p:txBody>
      </p:sp>
      <p:pic>
        <p:nvPicPr>
          <p:cNvPr id="10" name="Picture 9" descr="p_am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206240"/>
            <a:ext cx="530352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3931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2</a:t>
            </a:r>
          </a:p>
        </p:txBody>
      </p:sp>
      <p:pic>
        <p:nvPicPr>
          <p:cNvPr id="12" name="Picture 11" descr="p_am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06240"/>
            <a:ext cx="53035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3931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Temperature Field Comparison</a:t>
            </a:r>
          </a:p>
          <a:p>
            <a:pPr algn="l">
              <a:defRPr sz="1600">
                <a:solidFill>
                  <a:srgbClr val="BBCCDD"/>
                </a:solidFill>
              </a:defRPr>
            </a:pPr>
            <a:r>
              <a:t>Consistent scale: 200 - 900 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11 / 17</a:t>
            </a:r>
          </a:p>
        </p:txBody>
      </p:sp>
      <p:pic>
        <p:nvPicPr>
          <p:cNvPr id="6" name="Picture 5" descr="T_uni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30352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Uniform Mesh</a:t>
            </a:r>
          </a:p>
        </p:txBody>
      </p:sp>
      <p:pic>
        <p:nvPicPr>
          <p:cNvPr id="8" name="Picture 7" descr="T_am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1</a:t>
            </a:r>
          </a:p>
        </p:txBody>
      </p:sp>
      <p:pic>
        <p:nvPicPr>
          <p:cNvPr id="10" name="Picture 9" descr="T_am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206240"/>
            <a:ext cx="530352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3931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2</a:t>
            </a:r>
          </a:p>
        </p:txBody>
      </p:sp>
      <p:pic>
        <p:nvPicPr>
          <p:cNvPr id="12" name="Picture 11" descr="T_am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06240"/>
            <a:ext cx="53035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3931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Velocity Magnitude Comparison</a:t>
            </a:r>
          </a:p>
          <a:p>
            <a:pPr algn="l">
              <a:defRPr sz="1600">
                <a:solidFill>
                  <a:srgbClr val="BBCCDD"/>
                </a:solidFill>
              </a:defRPr>
            </a:pPr>
            <a:r>
              <a:t>Consistent scale: 0 - 1100 m/s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12 / 17</a:t>
            </a:r>
          </a:p>
        </p:txBody>
      </p:sp>
      <p:pic>
        <p:nvPicPr>
          <p:cNvPr id="6" name="Picture 5" descr="U_uni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30352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Uniform Mesh</a:t>
            </a:r>
          </a:p>
        </p:txBody>
      </p:sp>
      <p:pic>
        <p:nvPicPr>
          <p:cNvPr id="8" name="Picture 7" descr="U_amr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13716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1</a:t>
            </a:r>
          </a:p>
        </p:txBody>
      </p:sp>
      <p:pic>
        <p:nvPicPr>
          <p:cNvPr id="10" name="Picture 9" descr="U_am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206240"/>
            <a:ext cx="530352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3931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2</a:t>
            </a:r>
          </a:p>
        </p:txBody>
      </p:sp>
      <p:pic>
        <p:nvPicPr>
          <p:cNvPr id="12" name="Picture 11" descr="U_amr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206240"/>
            <a:ext cx="530352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3931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02B5C"/>
                </a:solidFill>
              </a:defRPr>
            </a:pPr>
            <a:r>
              <a:t>AMR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Pressure: Uniform vs AMR 3</a:t>
            </a:r>
          </a:p>
          <a:p>
            <a:pPr algn="l">
              <a:defRPr sz="1600">
                <a:solidFill>
                  <a:srgbClr val="BBCCDD"/>
                </a:solidFill>
              </a:defRPr>
            </a:pPr>
            <a:r>
              <a:t>Shock resolution improvement with gradient-based adaptation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13 / 17</a:t>
            </a:r>
          </a:p>
        </p:txBody>
      </p:sp>
      <p:pic>
        <p:nvPicPr>
          <p:cNvPr id="6" name="Picture 5" descr="p_uni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303520" cy="4114800"/>
          </a:xfrm>
          <a:prstGeom prst="rect">
            <a:avLst/>
          </a:prstGeom>
        </p:spPr>
      </p:pic>
      <p:pic>
        <p:nvPicPr>
          <p:cNvPr id="7" name="Picture 6" descr="p_amr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</a:defRPr>
            </a:pPr>
            <a:r>
              <a:t>Uniform (4,804 nodes)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</a:defRPr>
            </a:pPr>
            <a:r>
              <a:t>AMR 3 (17,500 nodes)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AMR 3 resolves the bow shock structure with sharper gradients using 3.6x more nodes concentrated at high-gradient regions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Temperature: Uniform vs AMR 3</a:t>
            </a:r>
          </a:p>
          <a:p>
            <a:pPr algn="l">
              <a:defRPr sz="1600">
                <a:solidFill>
                  <a:srgbClr val="BBCCDD"/>
                </a:solidFill>
              </a:defRPr>
            </a:pPr>
            <a:r>
              <a:t>Thermal structure near cylinder wall and wake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14 / 17</a:t>
            </a:r>
          </a:p>
        </p:txBody>
      </p:sp>
      <p:pic>
        <p:nvPicPr>
          <p:cNvPr id="6" name="Picture 5" descr="T_uni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5303520" cy="4114800"/>
          </a:xfrm>
          <a:prstGeom prst="rect">
            <a:avLst/>
          </a:prstGeom>
        </p:spPr>
      </p:pic>
      <p:pic>
        <p:nvPicPr>
          <p:cNvPr id="7" name="Picture 6" descr="T_amr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30352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</a:defRPr>
            </a:pPr>
            <a:r>
              <a:t>Uniform (4,804 nodes)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2B5C"/>
                </a:solidFill>
              </a:defRPr>
            </a:pPr>
            <a:r>
              <a:t>AMR 3 (17,500 nodes)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6666"/>
                </a:solidFill>
              </a:defRPr>
            </a:pPr>
            <a:r>
              <a:t>Temperature peaks at stagnation point (~900 K) due to adiabatic compression; AMR captures thermal layer thickness more accurately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Mesh &amp; 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15 / 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828800"/>
                <a:gridCol w="219456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Mesh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Nodes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Cells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Mesh File Size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 Range (Pa)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 Range (K)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Uniform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4,804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4,592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652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9.3 - 953.3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256.5 - 883.0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AMR 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71,904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71,275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11 MB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11.8 - 973.7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233.0 - 864.0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AMR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14,888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14,528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2.2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12.4 - 961.5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237.6 - 912.7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AMR 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17,500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17,141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2.6 MB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12.6 - 970.9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241.0 - 907.9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474720"/>
            <a:ext cx="54864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AMR 1 over-refines (71k nodes) because initial gradients are everywhere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AMR 2 corrects by re-solving on AMR 1 mesh; now gradients are well-resolved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AMR 3 adds refinement only where residual gradients exist (17.5k nodes)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Final mesh (AMR 3) is 3.6x larger than uniform but 4.1x smaller than AMR 1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Pressure/temperature ranges converge across iterations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5486400" cy="27432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AMR Pipeline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93192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Adaptation criterion: Pressure gradient |grad(p)|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h_min = 0.002 m (finest cells at shock front)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h_max = 0.015 m (coarsest cells in freestream)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Scaling factor alpha = 100.0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Gmsh CharacteristicLengthMin = 0.002 (AMR geo)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Gmsh CharacteristicLengthMax = 0.015 (AMR geo)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3 AMR iterations (configurable in amr_pipeline.input)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Key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Solver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rhoCentralFoam successfully handles Mach 3 on unstructured Gmsh mesh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sonicFoam crashes at ANY supersonic speed on this mesh type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Minmod limiter is essential; other limiters cause oscillations at Mach 3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maxCo = 0.3 required for stability with strong bow shock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AMR Effectiveness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Pressure gradient captures bow shock, stagnation, and wake accurately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3 AMR loops sufficient for mesh convergence (17.5k vs 4.8k nodes)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Self-correcting: AMR 1 over-refines, AMR 2-3 converge to optimal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Fully automated via all_run.sh with single config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54864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Limitations Discovered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Mach 3.5+ crashes: negative temperature from shock oscillations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Mach 27+ (re-entry): needs hy2Foam (hyStrath) for thermochemical non-equilibrium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hyStrath incompatible with OpenFOAM v2406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Subsonic flows (Mach 0.5): zero gradients make AMR meaningless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023360"/>
            <a:ext cx="5486400" cy="22860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Pipeline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80560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Universal: works with both OpenFOAM (CFD) and COMET (DSMC)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Two extraction modes: gradient (OpenFOAM) and direct (COMET MFP)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Solver-agnostic: reads VTU files, not solver-specific formats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Open-source ready: users configure ONLY amr_pipeline.input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5720"/>
          </a:xfrm>
          <a:prstGeom prst="rect">
            <a:avLst/>
          </a:prstGeom>
          <a:solidFill>
            <a:srgbClr val="007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Fahim Shahriyar | University of North Dakota | Dr. Chonglin Zhang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54864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Conclusions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Successfully demonstrated gradient-based AMR for Mach 3 supersonic cylinder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Pressure gradient is an effective adaptation criterion for shock-dominated flows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The automated pipeline (Gmsh + OpenFOAM + ParaView) reduces manual meshing effort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AMR achieves better shock resolution than uniform mesh with moderate cell count increase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The pipeline is configurable, solver-agnostic, and ready for other flow problems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486400" cy="320040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C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50292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Apply pipeline to 3D DSMC (COMET) results using direct MFP extraction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Test with friend's RAMC-II (Mach 27) DSMC results when available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Investigate multi-criteria adaptation (combine grad(p) + grad(T))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Extend to higher Mach numbers with structured/hybrid meshes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Integrate pipeline into thesis as AMR chapter demonstration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029200"/>
            <a:ext cx="8229600" cy="118872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1400">
                <a:solidFill>
                  <a:srgbClr val="BBCCDD"/>
                </a:solidFill>
              </a:defRPr>
            </a:pPr>
            <a:r>
              <a:t>Fahim Shahriyar | fahim.shahriyar@und.edu | Advisor: Dr. Chonglin Zhang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